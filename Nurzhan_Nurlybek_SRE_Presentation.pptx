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solidFill>
                  <a:srgbClr val="FFFFFF"/>
                </a:solidFill>
              </a:rPr>
              <a:t>FitClub</a:t>
            </a:r>
            <a:r>
              <a:rPr sz="4000" b="1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rgbClr val="FFFFFF"/>
                </a:solidFill>
              </a:rPr>
              <a:t>-</a:t>
            </a:r>
            <a:r>
              <a:rPr sz="4000" b="1" dirty="0">
                <a:solidFill>
                  <a:srgbClr val="FFFFFF"/>
                </a:solidFill>
              </a:rPr>
              <a:t> Production-Ready SRE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CCCCCC"/>
                </a:solidFill>
              </a:rPr>
              <a:t>Midterm Project: Observability Stack for a Custom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108960"/>
            <a:ext cx="12188952" cy="36576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60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Nurlybek</a:t>
            </a:r>
            <a:r>
              <a:rPr lang="en-US" sz="2200" b="1" dirty="0">
                <a:solidFill>
                  <a:srgbClr val="FFFFFF"/>
                </a:solidFill>
              </a:rPr>
              <a:t> Nurzhan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Introduction to SRE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5434E"/>
                </a:solidFill>
              </a:rPr>
              <a:t>Docker Swarm  •  Prometheus  •  Grafana  •  Node.js  • 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5410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1940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97702"/>
            <a:ext cx="68580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dirty="0" err="1">
                <a:solidFill>
                  <a:srgbClr val="CCCCCC"/>
                </a:solidFill>
              </a:rPr>
              <a:t>FitClub</a:t>
            </a:r>
            <a:r>
              <a:rPr sz="1500" b="0" dirty="0">
                <a:solidFill>
                  <a:srgbClr val="CCCCCC"/>
                </a:solidFill>
              </a:rPr>
              <a:t> is a fitness management platform built in Web Technologies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51563"/>
            <a:ext cx="5029200" cy="1626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What </a:t>
            </a:r>
            <a:r>
              <a:rPr sz="1800" b="1" dirty="0" err="1">
                <a:solidFill>
                  <a:srgbClr val="E5434E"/>
                </a:solidFill>
              </a:rPr>
              <a:t>FitClub</a:t>
            </a:r>
            <a:r>
              <a:rPr sz="1800" b="1" dirty="0">
                <a:solidFill>
                  <a:srgbClr val="E5434E"/>
                </a:solidFill>
              </a:rPr>
              <a:t> does: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Browse &amp; filter fitness programs (strength, cardio, yoga...)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Log personal workouts with sets, reps, weight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Leave ratings &amp; comments on programs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Admin panel: full CRUD for programs &amp; workouts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JWT-based authentication (register / login)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998938"/>
            <a:ext cx="5029200" cy="18774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Tech Stack: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Frontend:  HTML5, CSS3, Vanilla JS, Bootstrap 5.3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Backend: Node.js (ESM), Express.js 4.18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Database: </a:t>
            </a:r>
            <a:r>
              <a:rPr lang="en-US" sz="1300" dirty="0">
                <a:solidFill>
                  <a:srgbClr val="FFFFFF"/>
                </a:solidFill>
              </a:rPr>
              <a:t>M</a:t>
            </a:r>
            <a:r>
              <a:rPr sz="1300" dirty="0">
                <a:solidFill>
                  <a:srgbClr val="FFFFFF"/>
                </a:solidFill>
              </a:rPr>
              <a:t>ongoDB 7 (local Docker container)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Auth: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JWT tokens, </a:t>
            </a:r>
            <a:r>
              <a:rPr sz="1300" dirty="0" err="1">
                <a:solidFill>
                  <a:srgbClr val="FFFFFF"/>
                </a:solidFill>
              </a:rPr>
              <a:t>bcryptjs</a:t>
            </a:r>
            <a:endParaRPr sz="1300" dirty="0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Monitoring: Prometheus, Grafana, Node Exporter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Orchestration: Docker Swarm (2 replicas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506229"/>
            <a:ext cx="6217920" cy="16260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FFD700"/>
                </a:solidFill>
              </a:rPr>
              <a:t>SRE Objective: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Transform a working app into an observable, production-ready system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Define reliability targets (SLO) with real math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Separate monolith into isolated containers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Build live dashboards showing Golden Signals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Create automated alerts for failure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614660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Frontend </a:t>
            </a:r>
            <a:r>
              <a:rPr lang="en-US" sz="2800" b="1" dirty="0">
                <a:solidFill>
                  <a:srgbClr val="FFFFFF"/>
                </a:solidFill>
              </a:rPr>
              <a:t>-</a:t>
            </a:r>
            <a:r>
              <a:rPr sz="2800" b="1" dirty="0">
                <a:solidFill>
                  <a:srgbClr val="FFFFFF"/>
                </a:solidFill>
              </a:rPr>
              <a:t> Nginx Container (Port 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120" y="1570761"/>
            <a:ext cx="3840480" cy="18774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Architecture: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Served by Nginx Alpine container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Completely separated from backend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Static HTML / CSS / Vanilla JS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Bootstrap 5.3 + jQuery 3.6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API calls go to backend:5000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2 replicas via Docker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120" y="3544381"/>
            <a:ext cx="3840480" cy="18774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Pages: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Landing page (home)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Programs </a:t>
            </a:r>
            <a:r>
              <a:rPr lang="en-US" sz="1300" dirty="0">
                <a:solidFill>
                  <a:srgbClr val="FFFFFF"/>
                </a:solidFill>
              </a:rPr>
              <a:t>-</a:t>
            </a:r>
            <a:r>
              <a:rPr sz="1300" dirty="0">
                <a:solidFill>
                  <a:srgbClr val="FFFFFF"/>
                </a:solidFill>
              </a:rPr>
              <a:t> browse &amp; filter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Community </a:t>
            </a:r>
            <a:r>
              <a:rPr lang="en-US" sz="1300" dirty="0">
                <a:solidFill>
                  <a:srgbClr val="FFFFFF"/>
                </a:solidFill>
              </a:rPr>
              <a:t>-</a:t>
            </a:r>
            <a:r>
              <a:rPr sz="1300" dirty="0">
                <a:solidFill>
                  <a:srgbClr val="FFFFFF"/>
                </a:solidFill>
              </a:rPr>
              <a:t> workout logger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Login / Register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Admin panel (JWT protected)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About &amp; Service pages</a:t>
            </a:r>
          </a:p>
        </p:txBody>
      </p:sp>
      <p:pic>
        <p:nvPicPr>
          <p:cNvPr id="6" name="Picture 5" descr="FireShot Capture 099 - Fitclub - [localhost]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957" y="26199"/>
            <a:ext cx="2801620" cy="6805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600944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Backend </a:t>
            </a:r>
            <a:r>
              <a:rPr lang="en-US" sz="2800" b="1" dirty="0">
                <a:solidFill>
                  <a:srgbClr val="FFFFFF"/>
                </a:solidFill>
              </a:rPr>
              <a:t>-</a:t>
            </a:r>
            <a:r>
              <a:rPr sz="2800" b="1" dirty="0">
                <a:solidFill>
                  <a:srgbClr val="FFFFFF"/>
                </a:solidFill>
              </a:rPr>
              <a:t> Node.js API Container (Port 5000)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75190"/>
            <a:ext cx="3650541" cy="21287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Architecture: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Node.js ESM + Express.js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MVC pattern (Models / Controllers / Routes)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Completely separated from frontend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MongoDB connection via Mongoose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JWT auth middleware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prom-client /metrics endpoint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2 replicas via Docker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023360"/>
            <a:ext cx="3650541" cy="15491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5434E"/>
                </a:solidFill>
              </a:rPr>
              <a:t>API Endpoints: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POST /api/auth/register  &amp;  /api/auth/login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GET/POST/PUT/DELETE  /api/programs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GET/POST/PUT/DELETE  /api/workouts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GET/POST/DELETE  /api/comments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•  GET /metrics  (Prometheus scrape target)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BAD4B-41DB-41C8-F822-2F7928ED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861" y="461451"/>
            <a:ext cx="8263964" cy="3561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BE095C-8D01-6C40-8B9E-E68737AA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43" y="4162854"/>
            <a:ext cx="3658111" cy="2333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Containerization &amp; Docker Swarm  (+10 Bonus)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71" y="1221492"/>
            <a:ext cx="5029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E5434E"/>
                </a:solidFill>
              </a:rPr>
              <a:t>6 Isolated Services: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frontend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Nginx:alpine</a:t>
            </a:r>
            <a:r>
              <a:rPr sz="1200" dirty="0">
                <a:solidFill>
                  <a:srgbClr val="FFFFFF"/>
                </a:solidFill>
              </a:rPr>
              <a:t>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port 80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2 replicas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backend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Node20:alpine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port 5000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2 replicas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mongo  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mongo:7    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internal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1 replica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prometheus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prom/prometheus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port 9090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1 replica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</a:t>
            </a:r>
            <a:r>
              <a:rPr sz="1200" dirty="0" err="1">
                <a:solidFill>
                  <a:srgbClr val="FFFFFF"/>
                </a:solidFill>
              </a:rPr>
              <a:t>grafana</a:t>
            </a:r>
            <a:r>
              <a:rPr sz="1200" dirty="0">
                <a:solidFill>
                  <a:srgbClr val="FFFFFF"/>
                </a:solidFill>
              </a:rPr>
              <a:t>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grafana</a:t>
            </a:r>
            <a:r>
              <a:rPr sz="1200" dirty="0">
                <a:solidFill>
                  <a:srgbClr val="FFFFFF"/>
                </a:solidFill>
              </a:rPr>
              <a:t>/</a:t>
            </a:r>
            <a:r>
              <a:rPr sz="1200" dirty="0" err="1">
                <a:solidFill>
                  <a:srgbClr val="FFFFFF"/>
                </a:solidFill>
              </a:rPr>
              <a:t>grafana</a:t>
            </a:r>
            <a:r>
              <a:rPr sz="1200" dirty="0">
                <a:solidFill>
                  <a:srgbClr val="FFFFFF"/>
                </a:solidFill>
              </a:rPr>
              <a:t>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port 3000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1 replica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node-exporter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prom/node-exporter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9100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1 replica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621" y="3449068"/>
            <a:ext cx="50292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FFD700"/>
                </a:solidFill>
              </a:rPr>
              <a:t>Deployment Commands: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docker swarm init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docker build -t </a:t>
            </a:r>
            <a:r>
              <a:rPr sz="1200" dirty="0" err="1">
                <a:solidFill>
                  <a:srgbClr val="FFFFFF"/>
                </a:solidFill>
              </a:rPr>
              <a:t>fitclub</a:t>
            </a:r>
            <a:r>
              <a:rPr sz="1200" dirty="0">
                <a:solidFill>
                  <a:srgbClr val="FFFFFF"/>
                </a:solidFill>
              </a:rPr>
              <a:t>-backend ./backend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docker build -t </a:t>
            </a:r>
            <a:r>
              <a:rPr sz="1200" dirty="0" err="1">
                <a:solidFill>
                  <a:srgbClr val="FFFFFF"/>
                </a:solidFill>
              </a:rPr>
              <a:t>fitclub</a:t>
            </a:r>
            <a:r>
              <a:rPr sz="1200" dirty="0">
                <a:solidFill>
                  <a:srgbClr val="FFFFFF"/>
                </a:solidFill>
              </a:rPr>
              <a:t>-frontend ./frontend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docker stack deploy -c docker-</a:t>
            </a:r>
            <a:r>
              <a:rPr sz="1200" dirty="0" err="1">
                <a:solidFill>
                  <a:srgbClr val="FFFFFF"/>
                </a:solidFill>
              </a:rPr>
              <a:t>compose.yml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fitclub</a:t>
            </a:r>
            <a:endParaRPr sz="1200" dirty="0">
              <a:solidFill>
                <a:srgbClr val="FFFFFF"/>
              </a:solidFill>
            </a:endParaRP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docker service ls  </a:t>
            </a:r>
            <a:r>
              <a:rPr lang="en-US" sz="1200" dirty="0">
                <a:solidFill>
                  <a:srgbClr val="FFFFFF"/>
                </a:solidFill>
              </a:rPr>
              <a:t>-&gt;</a:t>
            </a:r>
            <a:r>
              <a:rPr sz="1200" dirty="0">
                <a:solidFill>
                  <a:srgbClr val="FFFFFF"/>
                </a:solidFill>
              </a:rPr>
              <a:t>  all 6 services UP</a:t>
            </a:r>
          </a:p>
        </p:txBody>
      </p:sp>
      <p:pic>
        <p:nvPicPr>
          <p:cNvPr id="6" name="Picture 5" descr="image copy 3.png"/>
          <p:cNvPicPr>
            <a:picLocks noChangeAspect="1"/>
          </p:cNvPicPr>
          <p:nvPr/>
        </p:nvPicPr>
        <p:blipFill>
          <a:blip r:embed="rId2"/>
          <a:srcRect r="46535" b="6657"/>
          <a:stretch>
            <a:fillRect/>
          </a:stretch>
        </p:blipFill>
        <p:spPr>
          <a:xfrm>
            <a:off x="5251391" y="1000256"/>
            <a:ext cx="6599663" cy="45631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576690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</a:rPr>
              <a:t>Custom Reliability Targets </a:t>
            </a:r>
            <a:r>
              <a:rPr lang="en-US" sz="2600" b="1" dirty="0">
                <a:solidFill>
                  <a:srgbClr val="FFFFFF"/>
                </a:solidFill>
              </a:rPr>
              <a:t>-</a:t>
            </a:r>
            <a:r>
              <a:rPr sz="2600" b="1" dirty="0">
                <a:solidFill>
                  <a:srgbClr val="FFFFFF"/>
                </a:solidFill>
              </a:rPr>
              <a:t> SLI, SLO &amp; Error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9264"/>
            <a:ext cx="5486400" cy="2743200"/>
          </a:xfrm>
          <a:prstGeom prst="rect">
            <a:avLst/>
          </a:prstGeom>
          <a:solidFill>
            <a:srgbClr val="1F2A3A"/>
          </a:solidFill>
          <a:ln>
            <a:solidFill>
              <a:srgbClr val="E5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452660"/>
            <a:ext cx="530352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E5434E"/>
                </a:solidFill>
              </a:rPr>
              <a:t>SLI 1 </a:t>
            </a:r>
            <a:r>
              <a:rPr lang="en-US" sz="1500" b="1" dirty="0">
                <a:solidFill>
                  <a:srgbClr val="E5434E"/>
                </a:solidFill>
              </a:rPr>
              <a:t>-</a:t>
            </a:r>
            <a:r>
              <a:rPr sz="1500" b="1" dirty="0">
                <a:solidFill>
                  <a:srgbClr val="E5434E"/>
                </a:solidFill>
              </a:rPr>
              <a:t> Program Browse Availability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Metric: % of GET /</a:t>
            </a:r>
            <a:r>
              <a:rPr sz="1300" dirty="0" err="1">
                <a:solidFill>
                  <a:srgbClr val="FFFFFF"/>
                </a:solidFill>
              </a:rPr>
              <a:t>api</a:t>
            </a:r>
            <a:r>
              <a:rPr sz="1300" dirty="0">
                <a:solidFill>
                  <a:srgbClr val="FFFFFF"/>
                </a:solidFill>
              </a:rPr>
              <a:t>/programs returning HTTP 200 in &lt; 500ms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SLO: 99.5% over 30 days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Error Budget: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  43,200 min × 0.5% = 216 minutes / month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  </a:t>
            </a:r>
            <a:r>
              <a:rPr lang="en-US" sz="1300" dirty="0">
                <a:solidFill>
                  <a:srgbClr val="FFFFFF"/>
                </a:solidFill>
              </a:rPr>
              <a:t>-&gt;</a:t>
            </a:r>
            <a:r>
              <a:rPr sz="1300" dirty="0">
                <a:solidFill>
                  <a:srgbClr val="FFFFFF"/>
                </a:solidFill>
              </a:rPr>
              <a:t> App can be slow for max 3h 36min/month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28106" y="969264"/>
            <a:ext cx="5486400" cy="2743200"/>
          </a:xfrm>
          <a:prstGeom prst="rect">
            <a:avLst/>
          </a:prstGeom>
          <a:solidFill>
            <a:srgbClr val="1F2A3A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9546" y="1425228"/>
            <a:ext cx="530352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F497D"/>
                </a:solidFill>
              </a:rPr>
              <a:t>SLI 2 </a:t>
            </a:r>
            <a:r>
              <a:rPr lang="en-US" sz="1500" b="1" dirty="0">
                <a:solidFill>
                  <a:srgbClr val="1F497D"/>
                </a:solidFill>
              </a:rPr>
              <a:t>-</a:t>
            </a:r>
            <a:r>
              <a:rPr sz="1500" b="1" dirty="0">
                <a:solidFill>
                  <a:srgbClr val="1F497D"/>
                </a:solidFill>
              </a:rPr>
              <a:t> Auth Service Reliability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Metric: % of POST /</a:t>
            </a:r>
            <a:r>
              <a:rPr sz="1300" dirty="0" err="1">
                <a:solidFill>
                  <a:srgbClr val="FFFFFF"/>
                </a:solidFill>
              </a:rPr>
              <a:t>api</a:t>
            </a:r>
            <a:r>
              <a:rPr sz="1300" dirty="0">
                <a:solidFill>
                  <a:srgbClr val="FFFFFF"/>
                </a:solidFill>
              </a:rPr>
              <a:t>/auth/login NOT returning HTTP 500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SLO: 99.9% over 30 days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Error Budget: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  43,200 min × 0.1% = 43.2 minutes / month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  </a:t>
            </a:r>
            <a:r>
              <a:rPr lang="en-US" sz="1300" dirty="0">
                <a:solidFill>
                  <a:srgbClr val="FFFFFF"/>
                </a:solidFill>
              </a:rPr>
              <a:t>-&gt;</a:t>
            </a:r>
            <a:r>
              <a:rPr sz="1300" dirty="0">
                <a:solidFill>
                  <a:srgbClr val="FFFFFF"/>
                </a:solidFill>
              </a:rPr>
              <a:t> Auth can fail for max 43 min/month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972" y="4387884"/>
            <a:ext cx="1161288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FFD700"/>
                </a:solidFill>
              </a:rPr>
              <a:t>Why These SLIs?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Program browsing is the #1 user action </a:t>
            </a:r>
            <a:r>
              <a:rPr lang="en-US" sz="1300" dirty="0">
                <a:solidFill>
                  <a:srgbClr val="FFFFFF"/>
                </a:solidFill>
              </a:rPr>
              <a:t>-</a:t>
            </a:r>
            <a:r>
              <a:rPr sz="1300" dirty="0">
                <a:solidFill>
                  <a:srgbClr val="FFFFFF"/>
                </a:solidFill>
              </a:rPr>
              <a:t> if slow, users leave immediately.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Authentication is a gateway </a:t>
            </a:r>
            <a:r>
              <a:rPr lang="en-US" sz="1300" dirty="0">
                <a:solidFill>
                  <a:srgbClr val="FFFFFF"/>
                </a:solidFill>
              </a:rPr>
              <a:t>-</a:t>
            </a:r>
            <a:r>
              <a:rPr sz="1300" dirty="0">
                <a:solidFill>
                  <a:srgbClr val="FFFFFF"/>
                </a:solidFill>
              </a:rPr>
              <a:t> if broken, zero users can log in or use protected features.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Both are directly measurable by Prometheus via </a:t>
            </a:r>
            <a:r>
              <a:rPr sz="1300" dirty="0" err="1">
                <a:solidFill>
                  <a:srgbClr val="FFFFFF"/>
                </a:solidFill>
              </a:rPr>
              <a:t>http_requests_total</a:t>
            </a:r>
            <a:r>
              <a:rPr sz="1300" dirty="0">
                <a:solidFill>
                  <a:srgbClr val="FFFFFF"/>
                </a:solidFill>
              </a:rPr>
              <a:t> and </a:t>
            </a:r>
            <a:r>
              <a:rPr sz="1300" dirty="0" err="1">
                <a:solidFill>
                  <a:srgbClr val="FFFFFF"/>
                </a:solidFill>
              </a:rPr>
              <a:t>http_request_duration_seconds</a:t>
            </a:r>
            <a:r>
              <a:rPr sz="13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FFFFFF"/>
                </a:solidFill>
              </a:rPr>
              <a:t>  •  SLOs are realistic: 99.5% allows planned maintenance; 99.9% reflects criticality of auth.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E54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</a:rPr>
              <a:t>Observability </a:t>
            </a:r>
            <a:r>
              <a:rPr lang="en-US" sz="2600" b="1" dirty="0">
                <a:solidFill>
                  <a:srgbClr val="FFFFFF"/>
                </a:solidFill>
              </a:rPr>
              <a:t>-</a:t>
            </a:r>
            <a:r>
              <a:rPr sz="2600" b="1" dirty="0">
                <a:solidFill>
                  <a:srgbClr val="FFFFFF"/>
                </a:solidFill>
              </a:rPr>
              <a:t> Prometheus, Grafana &amp;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7907" y="733330"/>
            <a:ext cx="4114800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ECC71"/>
                </a:solidFill>
              </a:rPr>
              <a:t>4 Golden Signals Dashboard: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Traffic 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rate(</a:t>
            </a:r>
            <a:r>
              <a:rPr sz="1200" dirty="0" err="1">
                <a:solidFill>
                  <a:srgbClr val="FFFFFF"/>
                </a:solidFill>
              </a:rPr>
              <a:t>http_requests_total</a:t>
            </a:r>
            <a:r>
              <a:rPr sz="1200" dirty="0">
                <a:solidFill>
                  <a:srgbClr val="FFFFFF"/>
                </a:solidFill>
              </a:rPr>
              <a:t>[5m])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Latency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histogram_quantile</a:t>
            </a:r>
            <a:r>
              <a:rPr sz="1200" dirty="0">
                <a:solidFill>
                  <a:srgbClr val="FFFFFF"/>
                </a:solidFill>
              </a:rPr>
              <a:t>(0.95, ...)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Errors   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rate(</a:t>
            </a:r>
            <a:r>
              <a:rPr sz="1200" dirty="0" err="1">
                <a:solidFill>
                  <a:srgbClr val="FFFFFF"/>
                </a:solidFill>
              </a:rPr>
              <a:t>http_requests_total</a:t>
            </a:r>
            <a:r>
              <a:rPr sz="1200" dirty="0">
                <a:solidFill>
                  <a:srgbClr val="FFFFFF"/>
                </a:solidFill>
              </a:rPr>
              <a:t>{status=~'5..'}[5m])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Saturation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process_resident_memory_bytes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78414" y="1697934"/>
            <a:ext cx="4114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E5434E"/>
                </a:solidFill>
              </a:rPr>
              <a:t>Alert Rules (</a:t>
            </a:r>
            <a:r>
              <a:rPr sz="1800" b="1" dirty="0" err="1">
                <a:solidFill>
                  <a:srgbClr val="E5434E"/>
                </a:solidFill>
              </a:rPr>
              <a:t>alert_rules.yml</a:t>
            </a:r>
            <a:r>
              <a:rPr sz="1800" b="1" dirty="0">
                <a:solidFill>
                  <a:srgbClr val="E5434E"/>
                </a:solidFill>
              </a:rPr>
              <a:t>):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WARNING 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HighErrorRate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  5xx rate &gt; 5% for 1 minute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CRITICAL </a:t>
            </a:r>
            <a:r>
              <a:rPr lang="en-US" sz="1200" dirty="0">
                <a:solidFill>
                  <a:srgbClr val="FFFFFF"/>
                </a:solidFill>
              </a:rPr>
              <a:t>-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sz="1200" dirty="0" err="1">
                <a:solidFill>
                  <a:srgbClr val="FFFFFF"/>
                </a:solidFill>
              </a:rPr>
              <a:t>BackendDown</a:t>
            </a:r>
            <a:endParaRPr sz="1200" dirty="0">
              <a:solidFill>
                <a:srgbClr val="FFFFFF"/>
              </a:solidFill>
            </a:endParaRP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  up{job=backend}==0 for 30 seconds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</a:t>
            </a:r>
            <a:r>
              <a:rPr lang="en-US" sz="1200" dirty="0">
                <a:solidFill>
                  <a:srgbClr val="FFFFFF"/>
                </a:solidFill>
              </a:rPr>
              <a:t>-&gt;</a:t>
            </a:r>
            <a:r>
              <a:rPr sz="1200" dirty="0">
                <a:solidFill>
                  <a:srgbClr val="FFFFFF"/>
                </a:solidFill>
              </a:rPr>
              <a:t> Both fired simultaneously when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</a:rPr>
              <a:t>  •    backend scaled to 0 replicas ✓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9A0DBD-E8E7-230D-F064-7B89CD7A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782"/>
            <a:ext cx="5617907" cy="5379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13A78A-2501-29BD-11E0-71A1C3087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907" y="3509137"/>
            <a:ext cx="6570918" cy="3348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927</Words>
  <Application>Microsoft Office PowerPoint</Application>
  <PresentationFormat>Custom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Nurzhan</cp:lastModifiedBy>
  <cp:revision>2</cp:revision>
  <dcterms:created xsi:type="dcterms:W3CDTF">2013-01-27T09:14:16Z</dcterms:created>
  <dcterms:modified xsi:type="dcterms:W3CDTF">2026-04-14T04:50:20Z</dcterms:modified>
  <cp:category/>
</cp:coreProperties>
</file>